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slides/slide25.xml" ContentType="application/vnd.openxmlformats-officedocument.presentationml.slide+xml"/>
  <Override PartName="/ppt/slides/slide26.xml" ContentType="application/vnd.openxmlformats-officedocument.presentationml.slide+xml"/>
  <Override PartName="/ppt/slides/slide27.xml" ContentType="application/vnd.openxmlformats-officedocument.presentationml.slide+xml"/>
  <Override PartName="/ppt/slides/slide28.xml" ContentType="application/vnd.openxmlformats-officedocument.presentationml.slide+xml"/>
  <Override PartName="/ppt/slides/slide29.xml" ContentType="application/vnd.openxmlformats-officedocument.presentationml.slide+xml"/>
  <Override PartName="/ppt/slides/slide3.xml" ContentType="application/vnd.openxmlformats-officedocument.presentationml.slide+xml"/>
  <Override PartName="/ppt/slides/slide30.xml" ContentType="application/vnd.openxmlformats-officedocument.presentationml.slide+xml"/>
  <Override PartName="/ppt/slides/slide31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  <p:sldId id="269" r:id="rId20"/>
    <p:sldId id="270" r:id="rId21"/>
    <p:sldId id="271" r:id="rId22"/>
    <p:sldId id="272" r:id="rId23"/>
    <p:sldId id="273" r:id="rId24"/>
    <p:sldId id="274" r:id="rId25"/>
    <p:sldId id="275" r:id="rId26"/>
    <p:sldId id="276" r:id="rId27"/>
    <p:sldId id="277" r:id="rId28"/>
    <p:sldId id="278" r:id="rId29"/>
    <p:sldId id="279" r:id="rId30"/>
    <p:sldId id="280" r:id="rId31"/>
    <p:sldId id="281" r:id="rId32"/>
    <p:sldId id="282" r:id="rId33"/>
    <p:sldId id="283" r:id="rId34"/>
    <p:sldId id="284" r:id="rId35"/>
    <p:sldId id="285" r:id="rId36"/>
    <p:sldId id="286" r:id="rId3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slide" Target="slides/slide14.xml"/><Relationship Id="rId21" Type="http://schemas.openxmlformats.org/officeDocument/2006/relationships/slide" Target="slides/slide15.xml"/><Relationship Id="rId22" Type="http://schemas.openxmlformats.org/officeDocument/2006/relationships/slide" Target="slides/slide16.xml"/><Relationship Id="rId23" Type="http://schemas.openxmlformats.org/officeDocument/2006/relationships/slide" Target="slides/slide17.xml"/><Relationship Id="rId24" Type="http://schemas.openxmlformats.org/officeDocument/2006/relationships/slide" Target="slides/slide18.xml"/><Relationship Id="rId25" Type="http://schemas.openxmlformats.org/officeDocument/2006/relationships/slide" Target="slides/slide19.xml"/><Relationship Id="rId26" Type="http://schemas.openxmlformats.org/officeDocument/2006/relationships/slide" Target="slides/slide20.xml"/><Relationship Id="rId27" Type="http://schemas.openxmlformats.org/officeDocument/2006/relationships/slide" Target="slides/slide21.xml"/><Relationship Id="rId28" Type="http://schemas.openxmlformats.org/officeDocument/2006/relationships/slide" Target="slides/slide22.xml"/><Relationship Id="rId29" Type="http://schemas.openxmlformats.org/officeDocument/2006/relationships/slide" Target="slides/slide23.xml"/><Relationship Id="rId30" Type="http://schemas.openxmlformats.org/officeDocument/2006/relationships/slide" Target="slides/slide24.xml"/><Relationship Id="rId31" Type="http://schemas.openxmlformats.org/officeDocument/2006/relationships/slide" Target="slides/slide25.xml"/><Relationship Id="rId32" Type="http://schemas.openxmlformats.org/officeDocument/2006/relationships/slide" Target="slides/slide26.xml"/><Relationship Id="rId33" Type="http://schemas.openxmlformats.org/officeDocument/2006/relationships/slide" Target="slides/slide27.xml"/><Relationship Id="rId34" Type="http://schemas.openxmlformats.org/officeDocument/2006/relationships/slide" Target="slides/slide28.xml"/><Relationship Id="rId35" Type="http://schemas.openxmlformats.org/officeDocument/2006/relationships/slide" Target="slides/slide29.xml"/><Relationship Id="rId36" Type="http://schemas.openxmlformats.org/officeDocument/2006/relationships/slide" Target="slides/slide30.xml"/><Relationship Id="rId37" Type="http://schemas.openxmlformats.org/officeDocument/2006/relationships/slide" Target="slides/slide3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1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2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_rels/slide3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ZettaBridge × Zerodha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Product capability, safety, security &amp; transparency</a:t>
            </a:r>
            <a:br/>
            <a:r>
              <a:t>Demonstrating our platform for Kite Connect / Personal API consideration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4572000"/>
            <a:ext cx="4206240" cy="50292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8FAFC"/>
                </a:solidFill>
              </a:defRPr>
            </a:pPr>
            <a:r>
              <a:t>July 2026 · Closed Beta · Paper + Kite Publisher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Purpose of this demo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Requesting Zerodha's review of our closed-beta platform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we are here today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Demonstrate what ZettaBridge is — an execution router for TradingView, bots, and custom signals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Show end-to-end transparency: signal ingest → validation → paper or Publisher workflow → audit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Prove safety &amp; security posture: what we store, what we never store, controls at each layer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Explain current Kite Publisher integration (closed beta) and its deliberate limitations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Present our readiness for Kite Connect / Kite Personal API — with SEBI Algo-ID compliance built in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Seek Zerodha's permission to proceed with approved API integration for eligible users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What is ZettaBridge?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ZettaBridge in one slide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Webhook-based execution platform for Indian retail algo traders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Receives signals from TradingView alerts, Python scripts, AI bots, or any HTTPS client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Routes each signal to a configured workflow: built-in paper trading or Zerodha live (Publisher today)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Returns HTTP 202 Accepted — signal is validated and queued, not executed synchronously in the response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Maintains a complete audit trail: request_id, ingest logs, trade status, execution logs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We are an execution router — not a broker, not an investment adviser, not a custodian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Closed beta: Paper trading available · Zerodha Kite Publisher in closed beta · Kite Connect not yet public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Compliance role boundary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9496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ZettaBridge does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Validate &amp; route webhook signals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Enforce plan limits, dedup, trading-hour guards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Log full audit trail per account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Attach SEBI Algo-ID when configured (Kite Connect path)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Hand off Publisher orders for user confirmation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39496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ZettaBridge does NOT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Hold customer funds or securities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Store Zerodha login passwords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Provide investment advice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Execute discretionary trades without user action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Bypass Zerodha's order confirmation for Publisher flow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Architecture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Enterprise-grade execution stack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ZettaBridge execution architecture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2286000" y="82296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Signal Source</a:t>
            </a:r>
            <a:br/>
            <a:r>
              <a:t>TradingView · AI Bot · Python</a:t>
            </a:r>
          </a:p>
        </p:txBody>
      </p:sp>
      <p:cxnSp>
        <p:nvCxnSpPr>
          <p:cNvPr id="4" name="Connector 3"/>
          <p:cNvCxnSpPr/>
          <p:nvPr/>
        </p:nvCxnSpPr>
        <p:spPr>
          <a:xfrm>
            <a:off x="5852160" y="1280160"/>
            <a:ext cx="0" cy="7315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5" name="Rounded Rectangle 4"/>
          <p:cNvSpPr/>
          <p:nvPr/>
        </p:nvSpPr>
        <p:spPr>
          <a:xfrm>
            <a:off x="2286000" y="141732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Cloudflare Edge</a:t>
            </a:r>
            <a:br/>
            <a:r>
              <a:t>TLS · DDoS · WAF</a:t>
            </a:r>
          </a:p>
        </p:txBody>
      </p:sp>
      <p:cxnSp>
        <p:nvCxnSpPr>
          <p:cNvPr id="6" name="Connector 5"/>
          <p:cNvCxnSpPr/>
          <p:nvPr/>
        </p:nvCxnSpPr>
        <p:spPr>
          <a:xfrm>
            <a:off x="5852160" y="1874519"/>
            <a:ext cx="0" cy="73153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7" name="Rounded Rectangle 6"/>
          <p:cNvSpPr/>
          <p:nvPr/>
        </p:nvSpPr>
        <p:spPr>
          <a:xfrm>
            <a:off x="2286000" y="201168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API Gateway</a:t>
            </a:r>
            <a:br/>
            <a:r>
              <a:t>Token auth · rate limits · validation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5852160" y="2468880"/>
            <a:ext cx="0" cy="7315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9" name="Rounded Rectangle 8"/>
          <p:cNvSpPr/>
          <p:nvPr/>
        </p:nvSpPr>
        <p:spPr>
          <a:xfrm>
            <a:off x="2286000" y="260604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Execution Engine</a:t>
            </a:r>
            <a:br/>
            <a:r>
              <a:t>Dedup · guards · workflow routing</a:t>
            </a:r>
          </a:p>
        </p:txBody>
      </p:sp>
      <p:cxnSp>
        <p:nvCxnSpPr>
          <p:cNvPr id="10" name="Connector 9"/>
          <p:cNvCxnSpPr/>
          <p:nvPr/>
        </p:nvCxnSpPr>
        <p:spPr>
          <a:xfrm>
            <a:off x="5852160" y="3063240"/>
            <a:ext cx="0" cy="7315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1" name="Rounded Rectangle 10"/>
          <p:cNvSpPr/>
          <p:nvPr/>
        </p:nvSpPr>
        <p:spPr>
          <a:xfrm>
            <a:off x="2286000" y="320040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Redis</a:t>
            </a:r>
            <a:br/>
            <a:r>
              <a:t>Dedup window · session state</a:t>
            </a:r>
          </a:p>
        </p:txBody>
      </p:sp>
      <p:cxnSp>
        <p:nvCxnSpPr>
          <p:cNvPr id="12" name="Connector 11"/>
          <p:cNvCxnSpPr/>
          <p:nvPr/>
        </p:nvCxnSpPr>
        <p:spPr>
          <a:xfrm>
            <a:off x="5852160" y="3657600"/>
            <a:ext cx="0" cy="7315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Rounded Rectangle 12"/>
          <p:cNvSpPr/>
          <p:nvPr/>
        </p:nvSpPr>
        <p:spPr>
          <a:xfrm>
            <a:off x="2286000" y="379476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Broker Workflow</a:t>
            </a:r>
            <a:br/>
            <a:r>
              <a:t>Paper engine · Kite Publisher handoff</a:t>
            </a:r>
          </a:p>
        </p:txBody>
      </p:sp>
      <p:cxnSp>
        <p:nvCxnSpPr>
          <p:cNvPr id="14" name="Connector 13"/>
          <p:cNvCxnSpPr/>
          <p:nvPr/>
        </p:nvCxnSpPr>
        <p:spPr>
          <a:xfrm>
            <a:off x="5852160" y="4251960"/>
            <a:ext cx="0" cy="7315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5" name="Rounded Rectangle 14"/>
          <p:cNvSpPr/>
          <p:nvPr/>
        </p:nvSpPr>
        <p:spPr>
          <a:xfrm>
            <a:off x="2286000" y="438912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Market Access</a:t>
            </a:r>
            <a:br/>
            <a:r>
              <a:t>Paper sim · Zerodha (user-confirmed)</a:t>
            </a:r>
          </a:p>
        </p:txBody>
      </p:sp>
      <p:cxnSp>
        <p:nvCxnSpPr>
          <p:cNvPr id="16" name="Connector 15"/>
          <p:cNvCxnSpPr/>
          <p:nvPr/>
        </p:nvCxnSpPr>
        <p:spPr>
          <a:xfrm>
            <a:off x="5852160" y="4846320"/>
            <a:ext cx="0" cy="73152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7" name="Rounded Rectangle 16"/>
          <p:cNvSpPr/>
          <p:nvPr/>
        </p:nvSpPr>
        <p:spPr>
          <a:xfrm>
            <a:off x="2286000" y="4983480"/>
            <a:ext cx="7589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Audit DB</a:t>
            </a:r>
            <a:br/>
            <a:r>
              <a:t>PostgreSQL — full event log</a:t>
            </a:r>
          </a:p>
        </p:txBody>
      </p:sp>
      <p:sp>
        <p:nvSpPr>
          <p:cNvPr id="18" name="Rounded Rectangle 17"/>
          <p:cNvSpPr/>
          <p:nvPr/>
        </p:nvSpPr>
        <p:spPr>
          <a:xfrm>
            <a:off x="640080" y="2286000"/>
            <a:ext cx="1371600" cy="2011680"/>
          </a:xfrm>
          <a:prstGeom prst="roundRect">
            <a:avLst/>
          </a:prstGeom>
          <a:solidFill>
            <a:srgbClr val="1E3A8A"/>
          </a:solidFill>
          <a:ln>
            <a:solidFill>
              <a:srgbClr val="8B5C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 b="1">
                <a:solidFill>
                  <a:srgbClr val="F8FAFC"/>
                </a:solidFill>
              </a:defRPr>
            </a:pPr>
            <a:r>
              <a:t>ZettaBridge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Execution</a:t>
            </a:r>
          </a:p>
          <a:p>
            <a:pPr algn="ctr">
              <a:defRPr sz="1100" b="1">
                <a:solidFill>
                  <a:srgbClr val="F8FAFC"/>
                </a:solidFill>
              </a:defRPr>
            </a:pPr>
            <a:r>
              <a:t>Platform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Webhook ingest sequence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389120" y="914400"/>
            <a:ext cx="33832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Signal source</a:t>
            </a:r>
            <a:br/>
            <a:r>
              <a:t>TradingView · Python · AI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389120" y="1691640"/>
            <a:ext cx="3383280" cy="59436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Token lookup + validation</a:t>
            </a:r>
            <a:br/>
            <a:r>
              <a:t>action · comment · hours · rate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4389120" y="2560320"/>
            <a:ext cx="33832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HTTP response</a:t>
            </a:r>
            <a:br/>
            <a:r>
              <a:t>202 / 4xx / 409 / 429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4389120" y="3337560"/>
            <a:ext cx="338328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Async worker</a:t>
            </a:r>
            <a:br/>
            <a:r>
              <a:t>symbol · qty · routing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4389120" y="4114800"/>
            <a:ext cx="3383280" cy="6400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Outcome</a:t>
            </a:r>
            <a:br/>
            <a:r>
              <a:t>queued → filled / rejected /</a:t>
            </a:r>
            <a:br/>
            <a:r>
              <a:t>pending_confirmation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6080760" y="1417320"/>
            <a:ext cx="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6080760" y="2286000"/>
            <a:ext cx="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6080760" y="3063240"/>
            <a:ext cx="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>
            <a:off x="6080760" y="3840480"/>
            <a:ext cx="0" cy="27432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2" name="TextBox 11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Synchronous validation at ingest · async processing after HTTP 202 · no broker redirect in webhook response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End-to-end flows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Paper trading and Kite Publisher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Paper vs Kite Publisher — same ingest, different destination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4206240" y="868680"/>
            <a:ext cx="3749039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POST /v1/webhook/{token}</a:t>
            </a:r>
            <a:br/>
            <a:r>
              <a:t>202 + request_id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4572000" y="1600200"/>
            <a:ext cx="301752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Route by webhook</a:t>
            </a:r>
            <a:br/>
            <a:r>
              <a:t>configuration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914400" y="260604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Paper engine</a:t>
            </a:r>
            <a:br/>
            <a:r>
              <a:t>Simulated balance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14400" y="3337560"/>
            <a:ext cx="27432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Paper fill</a:t>
            </a:r>
            <a:br/>
            <a:r>
              <a:t>filled / rejected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8503920" y="2606040"/>
            <a:ext cx="27432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Validate &amp; queue</a:t>
            </a:r>
          </a:p>
        </p:txBody>
      </p:sp>
      <p:sp>
        <p:nvSpPr>
          <p:cNvPr id="8" name="Rounded Rectangle 7"/>
          <p:cNvSpPr/>
          <p:nvPr/>
        </p:nvSpPr>
        <p:spPr>
          <a:xfrm>
            <a:off x="8503920" y="3246120"/>
            <a:ext cx="2743200" cy="41148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pending_confirmation</a:t>
            </a:r>
          </a:p>
        </p:txBody>
      </p:sp>
      <p:sp>
        <p:nvSpPr>
          <p:cNvPr id="9" name="Rounded Rectangle 8"/>
          <p:cNvSpPr/>
          <p:nvPr/>
        </p:nvSpPr>
        <p:spPr>
          <a:xfrm>
            <a:off x="8503920" y="3886200"/>
            <a:ext cx="27432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User confirms</a:t>
            </a:r>
            <a:br/>
            <a:r>
              <a:t>on Zerodha Kite</a:t>
            </a:r>
          </a:p>
        </p:txBody>
      </p:sp>
      <p:sp>
        <p:nvSpPr>
          <p:cNvPr id="10" name="Rounded Rectangle 9"/>
          <p:cNvSpPr/>
          <p:nvPr/>
        </p:nvSpPr>
        <p:spPr>
          <a:xfrm>
            <a:off x="8503920" y="4617720"/>
            <a:ext cx="2743200" cy="45720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submitted / filled / rejected</a:t>
            </a:r>
          </a:p>
        </p:txBody>
      </p:sp>
      <p:cxnSp>
        <p:nvCxnSpPr>
          <p:cNvPr id="11" name="Connector 10"/>
          <p:cNvCxnSpPr/>
          <p:nvPr/>
        </p:nvCxnSpPr>
        <p:spPr>
          <a:xfrm>
            <a:off x="5623560" y="1371600"/>
            <a:ext cx="0" cy="2286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 flipH="1">
            <a:off x="2286000" y="2011680"/>
            <a:ext cx="2560320" cy="59436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3" name="Connector 12"/>
          <p:cNvCxnSpPr/>
          <p:nvPr/>
        </p:nvCxnSpPr>
        <p:spPr>
          <a:xfrm>
            <a:off x="6400800" y="2011680"/>
            <a:ext cx="3474720" cy="59436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4" name="Connector 13"/>
          <p:cNvCxnSpPr/>
          <p:nvPr/>
        </p:nvCxnSpPr>
        <p:spPr>
          <a:xfrm>
            <a:off x="2286000" y="3108960"/>
            <a:ext cx="0" cy="2286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5" name="Connector 14"/>
          <p:cNvCxnSpPr/>
          <p:nvPr/>
        </p:nvCxnSpPr>
        <p:spPr>
          <a:xfrm>
            <a:off x="9875520" y="3063240"/>
            <a:ext cx="0" cy="18288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6" name="Connector 15"/>
          <p:cNvCxnSpPr/>
          <p:nvPr/>
        </p:nvCxnSpPr>
        <p:spPr>
          <a:xfrm>
            <a:off x="9875520" y="3657600"/>
            <a:ext cx="0" cy="2286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7" name="Connector 16"/>
          <p:cNvCxnSpPr/>
          <p:nvPr/>
        </p:nvCxnSpPr>
        <p:spPr>
          <a:xfrm>
            <a:off x="9875520" y="4389120"/>
            <a:ext cx="0" cy="2286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8" name="TextBox 17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Destination is set per webhook — not per signal payload. Publisher requires explicit user confirmation.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Paper trading workflow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User creates a paper account — no broker credentials required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Webhook links to paper account; signals simulate orders against configured defaults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Outcomes: filled or rejected — resolved entirely inside ZettaBridge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Used for strategy validation before enabling any live Zerodha workflow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Same ingest path, guards, dedup, and audit logging as live webhooks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Kite Publisher — end-to-end confirmation flow</a:t>
            </a:r>
          </a:p>
        </p:txBody>
      </p:sp>
      <p:sp>
        <p:nvSpPr>
          <p:cNvPr id="3" name="Oval 2"/>
          <p:cNvSpPr/>
          <p:nvPr/>
        </p:nvSpPr>
        <p:spPr>
          <a:xfrm>
            <a:off x="731520" y="1005840"/>
            <a:ext cx="320040" cy="320040"/>
          </a:xfrm>
          <a:prstGeom prst="ellipse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1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234440" y="98755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t>Signal source — POST JSON to webhook URL</a:t>
            </a:r>
          </a:p>
        </p:txBody>
      </p:sp>
      <p:sp>
        <p:nvSpPr>
          <p:cNvPr id="5" name="Oval 4"/>
          <p:cNvSpPr/>
          <p:nvPr/>
        </p:nvSpPr>
        <p:spPr>
          <a:xfrm>
            <a:off x="731520" y="1664208"/>
            <a:ext cx="320040" cy="320040"/>
          </a:xfrm>
          <a:prstGeom prst="ellipse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2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1234440" y="1645920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b="1"/>
              <a:t>ZettaBridge — Validate → HTTP 202 + request_id</a:t>
            </a:r>
          </a:p>
        </p:txBody>
      </p:sp>
      <p:sp>
        <p:nvSpPr>
          <p:cNvPr id="7" name="Oval 6"/>
          <p:cNvSpPr/>
          <p:nvPr/>
        </p:nvSpPr>
        <p:spPr>
          <a:xfrm>
            <a:off x="731520" y="2322576"/>
            <a:ext cx="320040" cy="320040"/>
          </a:xfrm>
          <a:prstGeom prst="ellipse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3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1234440" y="2304288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b="1"/>
              <a:t>ZettaBridge — Queue job · status → queued</a:t>
            </a:r>
          </a:p>
        </p:txBody>
      </p:sp>
      <p:sp>
        <p:nvSpPr>
          <p:cNvPr id="9" name="Oval 8"/>
          <p:cNvSpPr/>
          <p:nvPr/>
        </p:nvSpPr>
        <p:spPr>
          <a:xfrm>
            <a:off x="731520" y="2980944"/>
            <a:ext cx="320040" cy="320040"/>
          </a:xfrm>
          <a:prstGeom prst="ellipse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4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1234440" y="2962656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b="1"/>
              <a:t>ZettaBridge — Publisher handoff · pending_confirmation</a:t>
            </a:r>
          </a:p>
        </p:txBody>
      </p:sp>
      <p:sp>
        <p:nvSpPr>
          <p:cNvPr id="11" name="Oval 10"/>
          <p:cNvSpPr/>
          <p:nvPr/>
        </p:nvSpPr>
        <p:spPr>
          <a:xfrm>
            <a:off x="731520" y="3639311"/>
            <a:ext cx="320040" cy="320040"/>
          </a:xfrm>
          <a:prstGeom prst="ellipse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5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234440" y="3621023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BBF24"/>
                </a:solidFill>
              </a:defRPr>
            </a:pPr>
            <a:r>
              <a:rPr b="1"/>
              <a:t>User — Open trade in ZettaBridge dashboard</a:t>
            </a:r>
          </a:p>
        </p:txBody>
      </p:sp>
      <p:sp>
        <p:nvSpPr>
          <p:cNvPr id="13" name="Oval 12"/>
          <p:cNvSpPr/>
          <p:nvPr/>
        </p:nvSpPr>
        <p:spPr>
          <a:xfrm>
            <a:off x="731520" y="4297679"/>
            <a:ext cx="320040" cy="320040"/>
          </a:xfrm>
          <a:prstGeom prst="ellipse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6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1234440" y="4279392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FBBF24"/>
                </a:solidFill>
              </a:defRPr>
            </a:pPr>
            <a:r>
              <a:rPr b="1"/>
              <a:t>User — Review &amp; confirm order on Zerodha Kite</a:t>
            </a:r>
          </a:p>
        </p:txBody>
      </p:sp>
      <p:sp>
        <p:nvSpPr>
          <p:cNvPr id="15" name="Oval 14"/>
          <p:cNvSpPr/>
          <p:nvPr/>
        </p:nvSpPr>
        <p:spPr>
          <a:xfrm>
            <a:off x="731520" y="4956047"/>
            <a:ext cx="320040" cy="320040"/>
          </a:xfrm>
          <a:prstGeom prst="ellipse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100">
                <a:solidFill>
                  <a:srgbClr val="F8FAFC"/>
                </a:solidFill>
              </a:defRPr>
            </a:pPr>
            <a:r>
              <a:t>7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234440" y="4937759"/>
            <a:ext cx="10058400" cy="5029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400">
                <a:solidFill>
                  <a:srgbClr val="CBD5E1"/>
                </a:solidFill>
              </a:defRPr>
            </a:pPr>
            <a:r>
              <a:rPr b="1"/>
              <a:t>ZettaBridge — Audit: submitted / filled / rejected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822960" y="5806440"/>
            <a:ext cx="10515600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ZettaBridge never stores Zerodha login passwords. Live orders require explicit user confirmation on Zerodha.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Trade status lifecycle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011680"/>
                <a:gridCol w="4114800"/>
                <a:gridCol w="493776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Status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Meaning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Typical workflow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queued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Signal accepted &amp; queued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All webhooks after 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pending_confirmation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Awaiting user on Zerodha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Publisher only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submitted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Order submission recorded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After Zerodha confirmation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filled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Paper fill or broker fill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Terminal success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rejected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Validation or workflow error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May occur after 202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cancelled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User or system cancelled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Either workflow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Data &amp; security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Transparency on what we store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600" b="1">
                <a:solidFill>
                  <a:srgbClr val="F8FAFC"/>
                </a:solidFill>
              </a:defRPr>
            </a:pPr>
            <a:r>
              <a:t>Data boundary — what ZettaBridge stores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640080" y="1188720"/>
            <a:ext cx="539496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4ADE80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4ADE80"/>
                </a:solidFill>
              </a:defRPr>
            </a:pPr>
            <a:r>
              <a:t>We store (operational necessity)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Webhook configuration &amp; defaults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Hashed webhook tokens (never plaintext)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Paper account records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Broker configuration labels (not login passwords)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Order attempts &amp; full audit logs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Optional order tags (e.g. SEBI Algo-ID)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6309360" y="1188720"/>
            <a:ext cx="5394960" cy="5029200"/>
          </a:xfrm>
          <a:prstGeom prst="roundRect">
            <a:avLst/>
          </a:prstGeom>
          <a:solidFill>
            <a:srgbClr val="1E293B"/>
          </a:solidFill>
          <a:ln>
            <a:solidFill>
              <a:srgbClr val="F87171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lIns="182880" tIns="137160"/>
          <a:lstStyle/>
          <a:p>
            <a:pPr algn="ctr">
              <a:defRPr sz="1800" b="1">
                <a:solidFill>
                  <a:srgbClr val="F87171"/>
                </a:solidFill>
              </a:defRPr>
            </a:pPr>
            <a:r>
              <a:t>We never store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Zerodha login password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Customer funds or securities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TradingView credentials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Bank or payment credentials</a:t>
            </a:r>
          </a:p>
          <a:p>
            <a:pPr>
              <a:spcAft>
                <a:spcPts val="600"/>
              </a:spcAft>
              <a:defRPr sz="1400">
                <a:solidFill>
                  <a:srgbClr val="CBD5E1"/>
                </a:solidFill>
              </a:defRPr>
            </a:pPr>
            <a:r>
              <a:t>• Discretionary trading instructions beyond user config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Security controls at every stage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1. Edge: Cloudflare — TLS termination, DDoS protection, WAF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2. Ingest: Hashed webhook tokens, rate limits (60/min), dedup (2s), trading-hour guards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3. Validation: action · symbol · comment · plan gates — reject before queue where possible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4. Processing: Async workers — no synchronous broker call in webhook response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5. Publisher: User must confirm on Zerodha — no auto-placement without confirmation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6. Audit: request_id → ingest log → trade record → dashboard — full traceability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7. Storage: AES-256-GCM for secrets · PostgreSQL per-account isolation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Internal adapter topology uses private subnets, service tokens, and NAT egress for Kite API (staging).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Audit trail — end-to-end traceability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1097280" y="2286000"/>
            <a:ext cx="219456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202 response</a:t>
            </a:r>
            <a:br/>
            <a:r>
              <a:t>request_id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657600" y="2286000"/>
            <a:ext cx="237744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Ingest log</a:t>
            </a:r>
            <a:br/>
            <a:r>
              <a:t>accepted / rejected / dedup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309360" y="2286000"/>
            <a:ext cx="22860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Trade record</a:t>
            </a:r>
            <a:br/>
            <a:r>
              <a:t>status · error_code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8869680" y="2286000"/>
            <a:ext cx="22860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Dashboard</a:t>
            </a:r>
            <a:br/>
            <a:r>
              <a:t>Webhook &amp; Execution Logs</a:t>
            </a:r>
          </a:p>
        </p:txBody>
      </p:sp>
      <p:cxnSp>
        <p:nvCxnSpPr>
          <p:cNvPr id="7" name="Connector 6"/>
          <p:cNvCxnSpPr/>
          <p:nvPr/>
        </p:nvCxnSpPr>
        <p:spPr>
          <a:xfrm>
            <a:off x="3291840" y="2542032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8" name="Connector 7"/>
          <p:cNvCxnSpPr/>
          <p:nvPr/>
        </p:nvCxnSpPr>
        <p:spPr>
          <a:xfrm>
            <a:off x="6035040" y="2542032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8595360" y="2542032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0" name="TextBox 9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Every signal traceable from source request_id through to final trade outcome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1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Kite Publisher today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What works · what is intentionally limited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Kite Publisher — current closed-beta capabilities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743200"/>
                <a:gridCol w="4114800"/>
                <a:gridCol w="420624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Capability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Publisher (today)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Notes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Signal ingest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HTTP 202 — async queue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No synchronous order in response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Order placement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User confirms on Zerodha Kite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Manual confirmation required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Actions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BUY / SELL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CLOSE not supported on Publisher webhooks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OAuth session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Not required for Publisher handoff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No stored Zerodha password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Audit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Full request_id trail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Dashboard + PostgreSQL logs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Algo-ID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Not required (manual flow)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Publisher is user-confirmed, not algo-automated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Kite Publisher — deliberate limitations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User must manually confirm every order on Zerodha — cannot fully automate from TradingView webhook alone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Browser-redirect handoff — not suitable for unattended server-side algo execution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No programmatic order status stream equivalent to Kite Connect WebSocket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Daily session constraints — Publisher relies on user being available to confirm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Limited to BUY/SELL actions at webhook configuration level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We chose Publisher for closed beta to demonstrate safety without requesting Connect prematurely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822960" y="5989320"/>
            <a:ext cx="10515600" cy="36576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1100" i="1">
                <a:solidFill>
                  <a:srgbClr val="94A3B8"/>
                </a:solidFill>
              </a:defRPr>
            </a:pPr>
            <a:r>
              <a:t>These limitations are features of the Publisher model — not bugs. They protect users and demonstrate our conservative approach.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Kite Connect / Personal API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97280" y="4114800"/>
            <a:ext cx="9875520" cy="73152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600">
                <a:solidFill>
                  <a:srgbClr val="CBD5E1"/>
                </a:solidFill>
              </a:defRPr>
            </a:pPr>
            <a:r>
              <a:t>What integration would unlock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Publisher vs Kite Connect — honest comparison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64240" cy="329184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2286000"/>
                <a:gridCol w="4389120"/>
                <a:gridCol w="438912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Dimension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Kite Publisher (today)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Kite Connect / Personal API (requested)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Automation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User confirms each order on Kite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Programmatic place/modify/cancel via API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Latency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Human confirmation step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Sub-second API routing after guards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Webhook → order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Signal queued; user acts later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Signal → validated → API order (with Algo-ID)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Order status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Poll + callback after confirmation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Real-time order updates via API/WS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SEBI compliance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Manual flow — no Algo-ID needed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Algo-ID registration &amp; per-order tagging required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User safety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Maximum — every order reviewed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Guards + Algo-ID + rate limits + audit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Our readiness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Shipped in closed beta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Architecture built; awaiting Zerodha approval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Why we are ready for Kite Connect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Execution architecture already separates Core (ingest, guards, audit) from Zerodha adapter (Kite API, OAuth, NAT egress)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SEBI Algo-ID tagging implemented — attached per order when configured on broker credential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Encrypted credential storage (AES-256-GCM) — access tokens in PostgreSQL, never logged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OAuth callback on dedicated adapter host — Core never receives Kite request_token on public internet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Plan gates, dedup (2s), rate limits (60/min), trading-hour guards — all enforced before API call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Full audit trail already production-grade — Connect adds API order IDs to existing log chain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Staging deployed on AWS ap-south-1 with private subnets, static NAT IP for Kite whitelist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320040"/>
            <a:ext cx="10972800" cy="5486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Proposed Kite Connect flow (post-approval)</a:t>
            </a:r>
          </a:p>
        </p:txBody>
      </p:sp>
      <p:sp>
        <p:nvSpPr>
          <p:cNvPr id="3" name="Rounded Rectangle 2"/>
          <p:cNvSpPr/>
          <p:nvPr/>
        </p:nvSpPr>
        <p:spPr>
          <a:xfrm>
            <a:off x="731520" y="2011680"/>
            <a:ext cx="22860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TradingView / Bot</a:t>
            </a:r>
            <a:br/>
            <a:r>
              <a:t>POST webhook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383280" y="2011680"/>
            <a:ext cx="25603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ZettaBridge Core</a:t>
            </a:r>
            <a:br/>
            <a:r>
              <a:t>validate · dedup · guards</a:t>
            </a:r>
          </a:p>
        </p:txBody>
      </p:sp>
      <p:sp>
        <p:nvSpPr>
          <p:cNvPr id="5" name="Rounded Rectangle 4"/>
          <p:cNvSpPr/>
          <p:nvPr/>
        </p:nvSpPr>
        <p:spPr>
          <a:xfrm>
            <a:off x="6400800" y="2011680"/>
            <a:ext cx="256032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Zerodha Adapter</a:t>
            </a:r>
            <a:br/>
            <a:r>
              <a:t>OAuth session · PlaceOrder</a:t>
            </a:r>
          </a:p>
        </p:txBody>
      </p:sp>
      <p:sp>
        <p:nvSpPr>
          <p:cNvPr id="6" name="Rounded Rectangle 5"/>
          <p:cNvSpPr/>
          <p:nvPr/>
        </p:nvSpPr>
        <p:spPr>
          <a:xfrm>
            <a:off x="9235440" y="2011680"/>
            <a:ext cx="22860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Kite Connect API</a:t>
            </a:r>
            <a:br/>
            <a:r>
              <a:t>order + Algo-ID tag</a:t>
            </a:r>
          </a:p>
        </p:txBody>
      </p:sp>
      <p:sp>
        <p:nvSpPr>
          <p:cNvPr id="7" name="Rounded Rectangle 6"/>
          <p:cNvSpPr/>
          <p:nvPr/>
        </p:nvSpPr>
        <p:spPr>
          <a:xfrm>
            <a:off x="5029200" y="3657600"/>
            <a:ext cx="3200400" cy="502920"/>
          </a:xfrm>
          <a:prstGeom prst="roundRect">
            <a:avLst/>
          </a:prstGeom>
          <a:solidFill>
            <a:srgbClr val="1E293B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 wrap="square"/>
          <a:lstStyle/>
          <a:p>
            <a:pPr algn="ctr">
              <a:defRPr sz="1000" b="0">
                <a:solidFill>
                  <a:srgbClr val="F8FAFC"/>
                </a:solidFill>
              </a:defRPr>
            </a:pPr>
            <a:r>
              <a:t>Audit DB</a:t>
            </a:r>
            <a:br/>
            <a:r>
              <a:t>order_id · status · Algo-ID</a:t>
            </a:r>
          </a:p>
        </p:txBody>
      </p:sp>
      <p:cxnSp>
        <p:nvCxnSpPr>
          <p:cNvPr id="8" name="Connector 7"/>
          <p:cNvCxnSpPr/>
          <p:nvPr/>
        </p:nvCxnSpPr>
        <p:spPr>
          <a:xfrm>
            <a:off x="3017520" y="2267712"/>
            <a:ext cx="36576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9" name="Connector 8"/>
          <p:cNvCxnSpPr/>
          <p:nvPr/>
        </p:nvCxnSpPr>
        <p:spPr>
          <a:xfrm>
            <a:off x="5943600" y="2267712"/>
            <a:ext cx="45720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0" name="Connector 9"/>
          <p:cNvCxnSpPr/>
          <p:nvPr/>
        </p:nvCxnSpPr>
        <p:spPr>
          <a:xfrm>
            <a:off x="8961120" y="2267712"/>
            <a:ext cx="274320" cy="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1" name="Connector 10"/>
          <p:cNvCxnSpPr/>
          <p:nvPr/>
        </p:nvCxnSpPr>
        <p:spPr>
          <a:xfrm flipH="1">
            <a:off x="6629400" y="2514600"/>
            <a:ext cx="1051560" cy="11430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cxnSp>
        <p:nvCxnSpPr>
          <p:cNvPr id="12" name="Connector 11"/>
          <p:cNvCxnSpPr/>
          <p:nvPr/>
        </p:nvCxnSpPr>
        <p:spPr>
          <a:xfrm>
            <a:off x="6172200" y="2514600"/>
            <a:ext cx="0" cy="1143000"/>
          </a:xfrm>
          <a:prstGeom prst="line">
            <a:avLst/>
          </a:prstGeom>
          <a:ln w="19050">
            <a:solidFill>
              <a:srgbClr val="94A3B8"/>
            </a:solidFill>
          </a:ln>
        </p:spPr>
        <p:style>
          <a:lnRef idx="2">
            <a:schemeClr val="accent1"/>
          </a:lnRef>
          <a:fillRef idx="0">
            <a:schemeClr val="accent1"/>
          </a:fillRef>
          <a:effectRef idx="1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731520" y="6035040"/>
            <a:ext cx="1051560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000" i="1">
                <a:solidFill>
                  <a:srgbClr val="94A3B8"/>
                </a:solidFill>
              </a:defRPr>
            </a:pPr>
            <a:r>
              <a:t>Same ingest safety layer — Connect replaces Publisher handoff with approved API execution under Algo-ID compliance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Operational controls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400" b="1">
                <a:solidFill>
                  <a:srgbClr val="F8FAFC"/>
                </a:solidFill>
              </a:defRPr>
            </a:pPr>
            <a:r>
              <a:t>Rate limits, dedup &amp; plan gates</a:t>
            </a:r>
          </a:p>
        </p:txBody>
      </p:sp>
      <p:graphicFrame>
        <p:nvGraphicFramePr>
          <p:cNvPr id="3" name="Table 2"/>
          <p:cNvGraphicFramePr>
            <a:graphicFrameLocks noGrp="1"/>
          </p:cNvGraphicFramePr>
          <p:nvPr/>
        </p:nvGraphicFramePr>
        <p:xfrm>
          <a:off x="548640" y="1143000"/>
          <a:ext cx="11064240" cy="2880360"/>
        </p:xfrm>
        <a:graphic>
          <a:graphicData uri="http://schemas.openxmlformats.org/drawingml/2006/table">
            <a:tbl>
              <a:tblPr firstRow="1" bandRow="1">
                <a:tableStyleId>{5C22544A-7EE6-4342-B048-85BDC9FD1C3A}</a:tableStyleId>
              </a:tblPr>
              <a:tblGrid>
                <a:gridCol w="3200400"/>
                <a:gridCol w="3200400"/>
                <a:gridCol w="4663440"/>
              </a:tblGrid>
              <a:tr h="411480"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Control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Default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b="1" sz="1200">
                          <a:solidFill>
                            <a:srgbClr val="F8FAFC"/>
                          </a:solidFill>
                        </a:defRPr>
                      </a:pPr>
                      <a:r>
                        <a:t>Purpose</a:t>
                      </a:r>
                    </a:p>
                  </a:txBody>
                  <a:tcPr>
                    <a:solidFill>
                      <a:srgbClr val="1E3A8A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Per-webhook rate limit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60 requests / minute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Prevent signal flooding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Dedup window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2 seconds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Suppress duplicate alerts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Free plan daily cap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100 ingests / day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Abuse prevention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Broker order rate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10 orders / sec per config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Exchange/broker protection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Plan gate (live)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Pro / Pro Plus + beta approval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Controlled live rollout</a:t>
                      </a:r>
                    </a:p>
                  </a:txBody>
                  <a:tcPr>
                    <a:solidFill>
                      <a:srgbClr val="1E293B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HTTP 409 on dedup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No retry needed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  <a:tc>
                  <a:txBody>
                    <a:bodyPr/>
                    <a:lstStyle/>
                    <a:p>
                      <a:pPr>
                        <a:defRPr sz="1100">
                          <a:solidFill>
                            <a:srgbClr val="CBD5E1"/>
                          </a:solidFill>
                        </a:defRPr>
                      </a:pPr>
                      <a:r>
                        <a:t>Original signal still processing</a:t>
                      </a:r>
                    </a:p>
                  </a:txBody>
                  <a:tcPr>
                    <a:solidFill>
                      <a:srgbClr val="182133"/>
                    </a:solidFill>
                  </a:tcPr>
                </a:tc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Rectangle 1"/>
          <p:cNvSpPr/>
          <p:nvPr/>
        </p:nvSpPr>
        <p:spPr>
          <a:xfrm>
            <a:off x="0" y="2834640"/>
            <a:ext cx="12188952" cy="1280160"/>
          </a:xfrm>
          <a:prstGeom prst="rect">
            <a:avLst/>
          </a:prstGeom>
          <a:solidFill>
            <a:srgbClr val="1E3A8A"/>
          </a:solidFill>
          <a:ln>
            <a:noFill/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3" name="TextBox 2"/>
          <p:cNvSpPr txBox="1"/>
          <p:nvPr/>
        </p:nvSpPr>
        <p:spPr>
          <a:xfrm>
            <a:off x="731520" y="2971800"/>
            <a:ext cx="10515600" cy="9144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3200" b="1">
                <a:solidFill>
                  <a:srgbClr val="F8FAFC"/>
                </a:solidFill>
              </a:defRPr>
            </a:pPr>
            <a:r>
              <a:t>What we are asking Zerodha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2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Our request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Review this demonstration of ZettaBridge's current closed-beta platform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Acknowledge our safety, security, and audit posture demonstrated via Kite Publisher integration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Grant permission to proceed with Kite Connect / Kite Personal API integration for approved users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Whitelist our staging/production NAT egress IP for Kite API access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Guide us on SEBI Algo-ID registration requirements for our platform category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We commit to: no public Connect promises until Zerodha-approved · conservative rollout · full audit transparency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3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640080" y="411480"/>
            <a:ext cx="10972800" cy="6400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>
              <a:defRPr sz="2800" b="1">
                <a:solidFill>
                  <a:srgbClr val="F8FAFC"/>
                </a:solidFill>
              </a:defRPr>
            </a:pPr>
            <a:r>
              <a:t>Next steps after approval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822960" y="1234440"/>
            <a:ext cx="10789920" cy="48463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Enable Kite Connect OAuth for closed-beta users on Pro / Pro Plus plans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Attach registered Algo-ID to every programmatic order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Maintain Publisher as an option for users who prefer manual confirmation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Publish integration documentation and error-code reference for transparency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Ongoing audit log access for compliance review on request</a:t>
            </a:r>
          </a:p>
          <a:p>
            <a:pPr>
              <a:spcAft>
                <a:spcPts val="1000"/>
              </a:spcAft>
              <a:defRPr sz="1700">
                <a:solidFill>
                  <a:srgbClr val="CBD5E1"/>
                </a:solidFill>
              </a:defRPr>
            </a:pPr>
            <a:r>
              <a:t>Contact: team@zettabridge.com · staging: api.staging.zettabridge.net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slides/slide3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F172A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31520" y="1828800"/>
            <a:ext cx="10515600" cy="109728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4000" b="1">
                <a:solidFill>
                  <a:srgbClr val="F8FAFC"/>
                </a:solidFill>
              </a:defRPr>
            </a:pPr>
            <a:r>
              <a:t>Thank you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914400" y="3017520"/>
            <a:ext cx="10058400" cy="13716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1800">
                <a:solidFill>
                  <a:srgbClr val="CBD5E1"/>
                </a:solidFill>
              </a:defRPr>
            </a:pPr>
            <a:r>
              <a:t>ZettaBridge — Safe, transparent execution routing for Indian algo traders</a:t>
            </a:r>
            <a:br/>
            <a:br/>
            <a:r>
              <a:t>We welcome your questions and feedback.</a:t>
            </a:r>
          </a:p>
        </p:txBody>
      </p:sp>
      <p:sp>
        <p:nvSpPr>
          <p:cNvPr id="4" name="Rounded Rectangle 3"/>
          <p:cNvSpPr/>
          <p:nvPr/>
        </p:nvSpPr>
        <p:spPr>
          <a:xfrm>
            <a:off x="3840480" y="4572000"/>
            <a:ext cx="4206240" cy="502920"/>
          </a:xfrm>
          <a:prstGeom prst="roundRect">
            <a:avLst/>
          </a:prstGeom>
          <a:solidFill>
            <a:srgbClr val="1E3A8A"/>
          </a:solidFill>
          <a:ln>
            <a:solidFill>
              <a:srgbClr val="3B82F6"/>
            </a:solidFill>
          </a:ln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>
              <a:defRPr sz="1200">
                <a:solidFill>
                  <a:srgbClr val="F8FAFC"/>
                </a:solidFill>
              </a:defRPr>
            </a:pPr>
            <a:r>
              <a:t>July 2026 · Closed Beta · Paper + Kite Publisher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7200" y="6400800"/>
            <a:ext cx="11247120" cy="32004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pPr algn="ctr">
              <a:defRPr sz="900">
                <a:solidFill>
                  <a:srgbClr val="94A3B8"/>
                </a:solidFill>
              </a:defRPr>
            </a:pPr>
            <a:r>
              <a:t>ZettaBridge — Zerodha Integration Demo | Confidential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